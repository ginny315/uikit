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1097280"/>
            <a:ext cx="457200" cy="457200"/>
          </a:xfrm>
          <a:prstGeom prst="oval">
            <a:avLst/>
          </a:prstGeom>
          <a:solidFill>
            <a:srgbClr val="7B5C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7B5CFF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3474720"/>
            <a:ext cx="548640" cy="548640"/>
          </a:xfrm>
          <a:prstGeom prst="oval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4114800"/>
            <a:ext cx="274320" cy="274320"/>
          </a:xfrm>
          <a:prstGeom prst="oval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0" y="640080"/>
            <a:ext cx="3657600" cy="502920"/>
          </a:xfrm>
          <a:prstGeom prst="rect">
            <a:avLst/>
          </a:prstGeom>
          <a:solidFill>
            <a:srgbClr val="0D1B3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640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AGENTSYS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 的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统一平台，编排、监控、治理您的 AI Agent 集群。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0" y="3749040"/>
            <a:ext cx="3657600" cy="9144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开源项目 · 预发布 · 2026 年 7 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管理的四大危机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7043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无序蔓延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数十个 Agent 散落在代码库和服务器中，无法集中查看运行状态、版本或配置信息。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4296" y="109728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91456" y="1170432"/>
            <a:ext cx="54864" cy="154533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31536" y="126187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成本黑洞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31536" y="155448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调用成本完全不可见，月底账单到手才发现哪个 Agent 烧了最多 Token。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04495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0906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1363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协作断裂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间数据传递靠手动复制粘贴，一环崩溃全场挂掉。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4296" y="297180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91456" y="3044952"/>
            <a:ext cx="54864" cy="1545336"/>
          </a:xfrm>
          <a:prstGeom prst="rect">
            <a:avLst/>
          </a:prstGeom>
          <a:solidFill>
            <a:srgbClr val="FFAB40"/>
          </a:solidFill>
          <a:ln/>
          <a:effectLst>
            <a:outerShdw sx="100000" sy="100000" kx="0" ky="0" algn="bl" rotWithShape="0" blurRad="63500" dist="50800" dir="16200000">
              <a:srgbClr val="FFAB4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0328" y="30906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31536" y="31363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调试黑盒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31536" y="342900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日志分散、缺少链路追踪、Token 用量不可见——排查全靠猜。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1097280"/>
            <a:ext cx="457200" cy="457200"/>
          </a:xfrm>
          <a:prstGeom prst="oval">
            <a:avLst/>
          </a:prstGeom>
          <a:solidFill>
            <a:srgbClr val="7B5C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7B5CFF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3474720"/>
            <a:ext cx="548640" cy="548640"/>
          </a:xfrm>
          <a:prstGeom prst="oval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4114800"/>
            <a:ext cx="274320" cy="274320"/>
          </a:xfrm>
          <a:prstGeom prst="oval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0" y="640080"/>
            <a:ext cx="3657600" cy="502920"/>
          </a:xfrm>
          <a:prstGeom prst="rect">
            <a:avLst/>
          </a:prstGeom>
          <a:solidFill>
            <a:srgbClr val="0D1B3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640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AGENTSYS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让我们一起构建 Agent 基础设施的未来。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0" y="3749040"/>
            <a:ext cx="3657600" cy="9144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开源项目 · agent-sys.dev · hello@agent-sys.dev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产品愿景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"让 LLM Agent 的开发、部署和管理变得简单、可靠、可扩展。"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51424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1051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5623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56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901952"/>
            <a:ext cx="508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194560"/>
            <a:ext cx="4626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一站式管理所有 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6038" y="1737360"/>
            <a:ext cx="151424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73198" y="181051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2070" y="185623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2392070" y="1856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13278" y="1901952"/>
            <a:ext cx="508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工作流编排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13278" y="2194560"/>
            <a:ext cx="4626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像搭积木一样组合 Agent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14877" y="1737360"/>
            <a:ext cx="151424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52037" y="1810512"/>
            <a:ext cx="54864" cy="154533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70909" y="185623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20" name="Text 18"/>
          <p:cNvSpPr/>
          <p:nvPr/>
        </p:nvSpPr>
        <p:spPr>
          <a:xfrm>
            <a:off x="4070909" y="1856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92117" y="1901952"/>
            <a:ext cx="508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全栈可观测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92117" y="2194560"/>
            <a:ext cx="4626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实时监控与结构化日志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93715" y="1737360"/>
            <a:ext cx="151424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30875" y="1810512"/>
            <a:ext cx="54864" cy="1545336"/>
          </a:xfrm>
          <a:prstGeom prst="rect">
            <a:avLst/>
          </a:prstGeom>
          <a:solidFill>
            <a:srgbClr val="FFAB40"/>
          </a:solidFill>
          <a:ln/>
          <a:effectLst>
            <a:outerShdw sx="100000" sy="100000" kx="0" ky="0" algn="bl" rotWithShape="0" blurRad="63500" dist="50800" dir="16200000">
              <a:srgbClr val="FFAB4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49747" y="185623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26" name="Text 24"/>
          <p:cNvSpPr/>
          <p:nvPr/>
        </p:nvSpPr>
        <p:spPr>
          <a:xfrm>
            <a:off x="5749747" y="1856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70955" y="1901952"/>
            <a:ext cx="508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成本管控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0955" y="2194560"/>
            <a:ext cx="4626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追踪每个 Token，配额告警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2554" y="1737360"/>
            <a:ext cx="151424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09714" y="181051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28586" y="185623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32" name="Text 30"/>
          <p:cNvSpPr/>
          <p:nvPr/>
        </p:nvSpPr>
        <p:spPr>
          <a:xfrm>
            <a:off x="7428586" y="1856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949794" y="1901952"/>
            <a:ext cx="508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团队治理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49794" y="2194560"/>
            <a:ext cx="4626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RBAC、审计日志、密钥管理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7043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个人开发者 &amp; 小团队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低成本、快速上手，几分钟内让 Agent 跑起来。第一阶段目标用户。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55264" y="109728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2424" y="117043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3" name="Text 11"/>
          <p:cNvSpPr/>
          <p:nvPr/>
        </p:nvSpPr>
        <p:spPr>
          <a:xfrm>
            <a:off x="3511296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32504" y="1261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开发团队 (5–50人)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32504" y="15544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多人协作、版本控制、审计追踪、共享看板。第二阶段目标。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53328" y="109728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170432"/>
            <a:ext cx="54864" cy="154533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30568" y="1261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企业级组织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30568" y="15544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私有化部署、SSO、SLA 保障、多租户。第三阶段目标。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— MVP (P0)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7043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表单或 YAML 创建/编辑/删除 | 启动/停止/暂停实例 | 版本控制与回滚 | 能力标签发现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4296" y="109728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91456" y="117043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31536" y="126187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任务调度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31536" y="155448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API/Web UI 提交任务 | 优先级队列(紧急→低) | 公平调度防饥饿 | 指数退避重试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044952"/>
            <a:ext cx="54864" cy="154533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0906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1363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监控看板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与任务实时状态 | Token 消耗追踪 | 按优先级展示队列 | 成功率与延迟指标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4296" y="297180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91456" y="3044952"/>
            <a:ext cx="54864" cy="1545336"/>
          </a:xfrm>
          <a:prstGeom prst="rect">
            <a:avLst/>
          </a:prstGeom>
          <a:solidFill>
            <a:srgbClr val="FFAB40"/>
          </a:solidFill>
          <a:ln/>
          <a:effectLst>
            <a:outerShdw sx="100000" sy="100000" kx="0" ky="0" algn="bl" rotWithShape="0" blurRad="63500" dist="50800" dir="16200000">
              <a:srgbClr val="FFAB4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0328" y="30906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31536" y="31363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日志与链路追踪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31536" y="342900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结构化执行日志 | 执行时间线可视化 | 每步 Token 用量明细 | 可搜索过滤的日志查看器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— 团队规模 (P1)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7043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工作流编排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可视化拖拽编辑器串联多个 Agent，支持并行、条件分支和数据传递。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4296" y="109728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91456" y="1170432"/>
            <a:ext cx="54864" cy="154533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31536" y="126187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成本管理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31536" y="155448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Agent/用户/时段追踪 Token，设置配额和预算告警，预测未来支出。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04495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0906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1363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权限与 RBAC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管理员/操作员/用户/查看者角色，API Key 管理，敏感操作审计日志。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4296" y="2971800"/>
            <a:ext cx="4032504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91456" y="3044952"/>
            <a:ext cx="54864" cy="1545336"/>
          </a:xfrm>
          <a:prstGeom prst="rect">
            <a:avLst/>
          </a:prstGeom>
          <a:solidFill>
            <a:srgbClr val="FFAB40"/>
          </a:solidFill>
          <a:ln/>
          <a:effectLst>
            <a:outerShdw sx="100000" sy="100000" kx="0" ky="0" algn="bl" rotWithShape="0" blurRad="63500" dist="50800" dir="16200000">
              <a:srgbClr val="FFAB4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0328" y="30906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31536" y="31363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与集成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31536" y="342900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任务完成触发外部系统，原生集成 Slack、钉钉、GitHub PR 联动。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 — 三层结构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70432"/>
            <a:ext cx="54864" cy="154533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网关(Nginx/Kong) | Web UI(React) | CLI(Go) | WebSocket(Push)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55264" y="109728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2424" y="117043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3" name="Text 11"/>
          <p:cNvSpPr/>
          <p:nvPr/>
        </p:nvSpPr>
        <p:spPr>
          <a:xfrm>
            <a:off x="3511296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32504" y="1261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 — Go 微服务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32504" y="15544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| Scheduler | AgentRun | Coordinator | Auth | Metrics | Log | Webhook — gRPC 通信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53328" y="109728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17043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30568" y="1261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30568" y="15544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16(配置/用户) | Redis(队列/状态) | ClickHouse(日志/分析)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7043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(高性能并发) | gRPC (服务通信) | Gin (REST API)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55264" y="109728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2424" y="117043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3" name="Text 11"/>
          <p:cNvSpPr/>
          <p:nvPr/>
        </p:nvSpPr>
        <p:spPr>
          <a:xfrm>
            <a:off x="3511296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32504" y="1261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32504" y="15544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(组件化UI) | TypeScript (类型安全) | Tailwind + shadcn/ui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53328" y="109728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170432"/>
            <a:ext cx="54864" cy="154533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30568" y="1261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数据与基础设施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30568" y="15544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| Redis | ClickHouse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044952"/>
            <a:ext cx="54864" cy="1545336"/>
          </a:xfrm>
          <a:prstGeom prst="rect">
            <a:avLst/>
          </a:prstGeom>
          <a:solidFill>
            <a:srgbClr val="FFAB40"/>
          </a:solidFill>
          <a:ln/>
          <a:effectLst>
            <a:outerShdw sx="100000" sy="100000" kx="0" ky="0" algn="bl" rotWithShape="0" blurRad="63500" dist="50800" dir="16200000">
              <a:srgbClr val="FFAB4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30906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3136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可观测性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42900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(指标) | Grafana (看板) | OpenTelemetry → Jaeger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55264" y="297180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92424" y="304495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11296" y="30906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31" name="Text 29"/>
          <p:cNvSpPr/>
          <p:nvPr/>
        </p:nvSpPr>
        <p:spPr>
          <a:xfrm>
            <a:off x="3511296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32504" y="3136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32504" y="342900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(MVP) | Kubernetes (生产) | Nginx/Kong (网关)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53328" y="2971800"/>
            <a:ext cx="2633472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0488" y="304495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0906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30568" y="3136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提供商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0568" y="342900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| OpenAI GPT | Ollama/vLLM (本地)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用户旅程：创建与部署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097280"/>
            <a:ext cx="1325880" cy="1143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097280"/>
            <a:ext cx="1325880" cy="3200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234440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命名、选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配置工具与限制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52928" y="155448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E7A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1325880" cy="1143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097280"/>
            <a:ext cx="1325880" cy="32004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234440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设置配额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上限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并发数与超时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3128" y="155448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E7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1325880" cy="1143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1325880" cy="3200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234440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部署测试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一键启动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查看实时状态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53328" y="155448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E7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1325880" cy="1143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097280"/>
            <a:ext cx="1325880" cy="32004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234440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持续监控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用量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成功率与延迟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423160"/>
            <a:ext cx="841248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60604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分钟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3154680"/>
            <a:ext cx="262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首次部署耗时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61360" y="260604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次点击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261360" y="3154680"/>
            <a:ext cx="262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提交测试任务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65520" y="260604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065520" y="3154680"/>
            <a:ext cx="262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状态与 Token 消耗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用户旅程：多 Agent 工作流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08660" y="1097280"/>
            <a:ext cx="1325880" cy="1143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8660" y="1097280"/>
            <a:ext cx="1325880" cy="3200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1234440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已创建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2828" y="155448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E7A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08860" y="1097280"/>
            <a:ext cx="1325880" cy="1143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08860" y="1097280"/>
            <a:ext cx="1325880" cy="3200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0" name="Text 8"/>
          <p:cNvSpPr/>
          <p:nvPr/>
        </p:nvSpPr>
        <p:spPr>
          <a:xfrm>
            <a:off x="2400300" y="1234440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拉取变更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3028" y="155448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E7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09060" y="1097280"/>
            <a:ext cx="1325880" cy="1143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09060" y="1097280"/>
            <a:ext cx="1325880" cy="32004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4" name="Text 12"/>
          <p:cNvSpPr/>
          <p:nvPr/>
        </p:nvSpPr>
        <p:spPr>
          <a:xfrm>
            <a:off x="4000500" y="1234440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安全扫描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3228" y="155448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E7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09260" y="1097280"/>
            <a:ext cx="1325880" cy="1143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09260" y="1097280"/>
            <a:ext cx="1325880" cy="32004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18" name="Text 16"/>
          <p:cNvSpPr/>
          <p:nvPr/>
        </p:nvSpPr>
        <p:spPr>
          <a:xfrm>
            <a:off x="5600700" y="1234440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代码风格检查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3428" y="155448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E7A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09460" y="1097280"/>
            <a:ext cx="1325880" cy="114300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09460" y="1097280"/>
            <a:ext cx="1325880" cy="3200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00900" y="1234440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生成报告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193395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58775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26334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2679192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可视化编辑器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882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拖拽界面构建 Agent 管道——无需编写代码。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5748" y="2514600"/>
            <a:ext cx="193395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92908" y="258775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811780" y="26334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32" name="Text 30"/>
          <p:cNvSpPr/>
          <p:nvPr/>
        </p:nvSpPr>
        <p:spPr>
          <a:xfrm>
            <a:off x="2811780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332988" y="2679192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并行执行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32988" y="2971800"/>
            <a:ext cx="882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独立步骤并发运行，基于 DAG 拓扑排序调度。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4296" y="2514600"/>
            <a:ext cx="193395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91456" y="2587752"/>
            <a:ext cx="54864" cy="154533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10328" y="26334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38" name="Text 36"/>
          <p:cNvSpPr/>
          <p:nvPr/>
        </p:nvSpPr>
        <p:spPr>
          <a:xfrm>
            <a:off x="4910328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31536" y="2679192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自动触发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31536" y="2971800"/>
            <a:ext cx="882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Webhook/定时/事件驱动，PR 创建即自动启动。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52844" y="2514600"/>
            <a:ext cx="193395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90004" y="2587752"/>
            <a:ext cx="54864" cy="1545336"/>
          </a:xfrm>
          <a:prstGeom prst="rect">
            <a:avLst/>
          </a:prstGeom>
          <a:solidFill>
            <a:srgbClr val="FFAB40"/>
          </a:solidFill>
          <a:ln/>
          <a:effectLst>
            <a:outerShdw sx="100000" sy="100000" kx="0" ky="0" algn="bl" rotWithShape="0" blurRad="63500" dist="50800" dir="16200000">
              <a:srgbClr val="FFAB4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08876" y="263347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44" name="Text 42"/>
          <p:cNvSpPr/>
          <p:nvPr/>
        </p:nvSpPr>
        <p:spPr>
          <a:xfrm>
            <a:off x="7008876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530084" y="2679192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故障恢复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530084" y="2971800"/>
            <a:ext cx="882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每步重试策略、死信队列、工作流部分恢复。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开发路线图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93395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70432"/>
            <a:ext cx="54864" cy="154533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63500" dist="50800" dir="16200000">
              <a:srgbClr val="00C8FF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1️⃣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第一阶段：MVP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882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周 | Agent CRUD | 任务调度 | 基础监控 | 日志查看器 | Docker 部署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55748" y="1097280"/>
            <a:ext cx="193395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2908" y="1170432"/>
            <a:ext cx="54864" cy="1545336"/>
          </a:xfrm>
          <a:prstGeom prst="rect">
            <a:avLst/>
          </a:prstGeom>
          <a:solidFill>
            <a:srgbClr val="7B5CFF"/>
          </a:solidFill>
          <a:ln/>
          <a:effectLst>
            <a:outerShdw sx="100000" sy="100000" kx="0" ky="0" algn="bl" rotWithShape="0" blurRad="63500" dist="50800" dir="16200000">
              <a:srgbClr val="7B5CFF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11780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3" name="Text 11"/>
          <p:cNvSpPr/>
          <p:nvPr/>
        </p:nvSpPr>
        <p:spPr>
          <a:xfrm>
            <a:off x="2811780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2️⃣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2988" y="1261872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第二阶段：核心增强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2988" y="1554480"/>
            <a:ext cx="882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周 | 工作流编排 | 成本管理 | RBAC | Webhook | 优先级队列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1097280"/>
            <a:ext cx="193395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1170432"/>
            <a:ext cx="54864" cy="1545336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63500" dist="50800" dir="16200000">
              <a:srgbClr val="00E676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10328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3️⃣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31536" y="1261872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第三阶段：生产就绪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31536" y="1554480"/>
            <a:ext cx="882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周 | 高可用部署 | 审计日志 | 性能优化 | 更多 LLM | CLI 工具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52844" y="1097280"/>
            <a:ext cx="1933956" cy="16916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90004" y="1170432"/>
            <a:ext cx="54864" cy="1545336"/>
          </a:xfrm>
          <a:prstGeom prst="rect">
            <a:avLst/>
          </a:prstGeom>
          <a:solidFill>
            <a:srgbClr val="FFAB40"/>
          </a:solidFill>
          <a:ln/>
          <a:effectLst>
            <a:outerShdw sx="100000" sy="100000" kx="0" ky="0" algn="bl" rotWithShape="0" blurRad="63500" dist="50800" dir="16200000">
              <a:srgbClr val="FFAB4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08876" y="1216152"/>
            <a:ext cx="411480" cy="411480"/>
          </a:xfrm>
          <a:prstGeom prst="oval">
            <a:avLst/>
          </a:prstGeom>
          <a:solidFill>
            <a:srgbClr val="141C42"/>
          </a:solidFill>
          <a:ln/>
        </p:spPr>
      </p:sp>
      <p:sp>
        <p:nvSpPr>
          <p:cNvPr id="25" name="Text 23"/>
          <p:cNvSpPr/>
          <p:nvPr/>
        </p:nvSpPr>
        <p:spPr>
          <a:xfrm>
            <a:off x="7008876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4️⃣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30084" y="1261872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第四阶段：企业级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30084" y="1554480"/>
            <a:ext cx="882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 | 多租户 | 私有化部署 | SSO | 高级分析 | SLA 保障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成功指标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00C8FF"/>
          </a:solidFill>
          <a:ln/>
          <a:effectLst>
            <a:outerShdw sx="100000" sy="100000" kx="0" ky="0" algn="bl" rotWithShape="0" blurRad="101600" dist="50800" dir="16200000">
              <a:srgbClr val="00C8FF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产品指标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95% → 99%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任务成功率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50%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周活跃用户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核心功能采用率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60%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日留存率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 KPI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8412480" cy="173736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100ms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560320" y="3566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P95 延迟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500ms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63440" y="3566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任务分发 P95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66560" y="3566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并发任务数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1097280"/>
            <a:ext cx="457200" cy="457200"/>
          </a:xfrm>
          <a:prstGeom prst="oval">
            <a:avLst/>
          </a:prstGeom>
          <a:solidFill>
            <a:srgbClr val="7B5C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7B5CFF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3474720"/>
            <a:ext cx="548640" cy="548640"/>
          </a:xfrm>
          <a:prstGeom prst="oval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4114800"/>
            <a:ext cx="274320" cy="274320"/>
          </a:xfrm>
          <a:prstGeom prst="oval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0" y="640080"/>
            <a:ext cx="3657600" cy="502920"/>
          </a:xfrm>
          <a:prstGeom prst="rect">
            <a:avLst/>
          </a:prstGeom>
          <a:solidFill>
            <a:srgbClr val="0D1B3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640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AGENTSYS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让我们一起构建 Agent 基础设施的未来。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0" y="3749040"/>
            <a:ext cx="3657600" cy="9144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开源项目 · agent-sys.dev · hello@agent-sys.dev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0F15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1097280"/>
            <a:ext cx="457200" cy="457200"/>
          </a:xfrm>
          <a:prstGeom prst="oval">
            <a:avLst/>
          </a:prstGeom>
          <a:solidFill>
            <a:srgbClr val="7B5C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7B5CFF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3474720"/>
            <a:ext cx="548640" cy="548640"/>
          </a:xfrm>
          <a:prstGeom prst="oval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4114800"/>
            <a:ext cx="274320" cy="274320"/>
          </a:xfrm>
          <a:prstGeom prst="oval">
            <a:avLst/>
          </a:prstGeom>
          <a:solidFill>
            <a:srgbClr val="00C8FF">
              <a:alpha val="20000"/>
            </a:srgbClr>
          </a:solidFill>
          <a:ln/>
          <a:effectLst>
            <a:outerShdw sx="100000" sy="100000" kx="0" ky="0" algn="bl" rotWithShape="0" blurRad="381000" dist="50800" dir="16200000">
              <a:srgbClr val="00C8FF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0" y="640080"/>
            <a:ext cx="3657600" cy="502920"/>
          </a:xfrm>
          <a:prstGeom prst="rect">
            <a:avLst/>
          </a:prstGeom>
          <a:solidFill>
            <a:srgbClr val="0D1B3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640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AGENTSYS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让我们一起构建 Agent 基础设施的未来。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0" y="3749040"/>
            <a:ext cx="3657600" cy="9144"/>
          </a:xfrm>
          <a:prstGeom prst="rect">
            <a:avLst/>
          </a:prstGeom>
          <a:solidFill>
            <a:srgbClr val="1A2555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开源项目 · agent-sys.dev · hello@agent-sys.dev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E7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html2pptx</dc:creator>
  <cp:lastModifiedBy>html2pptx</cp:lastModifiedBy>
  <cp:revision>1</cp:revision>
  <dcterms:created xsi:type="dcterms:W3CDTF">2026-07-10T07:51:28Z</dcterms:created>
  <dcterms:modified xsi:type="dcterms:W3CDTF">2026-07-10T07:51:28Z</dcterms:modified>
</cp:coreProperties>
</file>